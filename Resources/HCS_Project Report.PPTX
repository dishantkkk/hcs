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1"/>
  </p:sldMasterIdLst>
  <p:notesMasterIdLst>
    <p:notesMasterId r:id="rId23"/>
  </p:notesMasterIdLst>
  <p:sldIdLst>
    <p:sldId id="296" r:id="rId2"/>
    <p:sldId id="257" r:id="rId3"/>
    <p:sldId id="278" r:id="rId4"/>
    <p:sldId id="306" r:id="rId5"/>
    <p:sldId id="259" r:id="rId6"/>
    <p:sldId id="298" r:id="rId7"/>
    <p:sldId id="329" r:id="rId8"/>
    <p:sldId id="309" r:id="rId9"/>
    <p:sldId id="326" r:id="rId10"/>
    <p:sldId id="331" r:id="rId11"/>
    <p:sldId id="307" r:id="rId12"/>
    <p:sldId id="332" r:id="rId13"/>
    <p:sldId id="310" r:id="rId14"/>
    <p:sldId id="320" r:id="rId15"/>
    <p:sldId id="312" r:id="rId16"/>
    <p:sldId id="315" r:id="rId17"/>
    <p:sldId id="316" r:id="rId18"/>
    <p:sldId id="328" r:id="rId19"/>
    <p:sldId id="366" r:id="rId20"/>
    <p:sldId id="368" r:id="rId21"/>
    <p:sldId id="29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1" autoAdjust="0"/>
    <p:restoredTop sz="77239" autoAdjust="0"/>
  </p:normalViewPr>
  <p:slideViewPr>
    <p:cSldViewPr snapToGrid="0">
      <p:cViewPr>
        <p:scale>
          <a:sx n="50" d="100"/>
          <a:sy n="50" d="100"/>
        </p:scale>
        <p:origin x="1548"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9EA588-20B5-4D9B-8DB4-139C56AF7BA1}" type="datetimeFigureOut">
              <a:rPr lang="en-IN" smtClean="0"/>
              <a:t>05-09-2019</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5849AF-B928-4EEE-B710-E11DA8A2D435}" type="slidenum">
              <a:rPr lang="en-IN" smtClean="0"/>
              <a:t>‹#›</a:t>
            </a:fld>
            <a:endParaRPr lang="en-IN"/>
          </a:p>
        </p:txBody>
      </p:sp>
    </p:spTree>
    <p:extLst>
      <p:ext uri="{BB962C8B-B14F-4D97-AF65-F5344CB8AC3E}">
        <p14:creationId xmlns:p14="http://schemas.microsoft.com/office/powerpoint/2010/main" val="1420583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dirty="0"/>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eorgia" pitchFamily="-109" charset="0"/>
                <a:ea typeface="ＭＳ Ｐゴシック" pitchFamily="-109" charset="-128"/>
              </a:defRPr>
            </a:lvl1pPr>
            <a:lvl2pPr marL="37931725" indent="-37474525">
              <a:defRPr>
                <a:solidFill>
                  <a:schemeClr val="tx1"/>
                </a:solidFill>
                <a:latin typeface="Georgia" pitchFamily="-109" charset="0"/>
                <a:ea typeface="ＭＳ Ｐゴシック" pitchFamily="-109" charset="-128"/>
              </a:defRPr>
            </a:lvl2pPr>
            <a:lvl3pPr>
              <a:defRPr>
                <a:solidFill>
                  <a:schemeClr val="tx1"/>
                </a:solidFill>
                <a:latin typeface="Georgia" pitchFamily="-109" charset="0"/>
                <a:ea typeface="ＭＳ Ｐゴシック" pitchFamily="-109" charset="-128"/>
              </a:defRPr>
            </a:lvl3pPr>
            <a:lvl4pPr>
              <a:defRPr>
                <a:solidFill>
                  <a:schemeClr val="tx1"/>
                </a:solidFill>
                <a:latin typeface="Georgia" pitchFamily="-109" charset="0"/>
                <a:ea typeface="ＭＳ Ｐゴシック" pitchFamily="-109" charset="-128"/>
              </a:defRPr>
            </a:lvl4pPr>
            <a:lvl5pPr>
              <a:defRPr>
                <a:solidFill>
                  <a:schemeClr val="tx1"/>
                </a:solidFill>
                <a:latin typeface="Georgia" pitchFamily="-109" charset="0"/>
                <a:ea typeface="ＭＳ Ｐゴシック" pitchFamily="-109" charset="-128"/>
              </a:defRPr>
            </a:lvl5pPr>
            <a:lvl6pPr marL="457200" fontAlgn="base">
              <a:spcBef>
                <a:spcPct val="0"/>
              </a:spcBef>
              <a:spcAft>
                <a:spcPct val="0"/>
              </a:spcAft>
              <a:defRPr>
                <a:solidFill>
                  <a:schemeClr val="tx1"/>
                </a:solidFill>
                <a:latin typeface="Georgia" pitchFamily="-109" charset="0"/>
                <a:ea typeface="ＭＳ Ｐゴシック" pitchFamily="-109" charset="-128"/>
              </a:defRPr>
            </a:lvl6pPr>
            <a:lvl7pPr marL="914400" fontAlgn="base">
              <a:spcBef>
                <a:spcPct val="0"/>
              </a:spcBef>
              <a:spcAft>
                <a:spcPct val="0"/>
              </a:spcAft>
              <a:defRPr>
                <a:solidFill>
                  <a:schemeClr val="tx1"/>
                </a:solidFill>
                <a:latin typeface="Georgia" pitchFamily="-109" charset="0"/>
                <a:ea typeface="ＭＳ Ｐゴシック" pitchFamily="-109" charset="-128"/>
              </a:defRPr>
            </a:lvl7pPr>
            <a:lvl8pPr marL="1371600" fontAlgn="base">
              <a:spcBef>
                <a:spcPct val="0"/>
              </a:spcBef>
              <a:spcAft>
                <a:spcPct val="0"/>
              </a:spcAft>
              <a:defRPr>
                <a:solidFill>
                  <a:schemeClr val="tx1"/>
                </a:solidFill>
                <a:latin typeface="Georgia" pitchFamily="-109" charset="0"/>
                <a:ea typeface="ＭＳ Ｐゴシック" pitchFamily="-109" charset="-128"/>
              </a:defRPr>
            </a:lvl8pPr>
            <a:lvl9pPr marL="1828800" fontAlgn="base">
              <a:spcBef>
                <a:spcPct val="0"/>
              </a:spcBef>
              <a:spcAft>
                <a:spcPct val="0"/>
              </a:spcAft>
              <a:defRPr>
                <a:solidFill>
                  <a:schemeClr val="tx1"/>
                </a:solidFill>
                <a:latin typeface="Georgia" pitchFamily="-109" charset="0"/>
                <a:ea typeface="ＭＳ Ｐゴシック" pitchFamily="-109" charset="-128"/>
              </a:defRPr>
            </a:lvl9pPr>
          </a:lstStyle>
          <a:p>
            <a:fld id="{20AB8081-DE2F-4650-A5CA-F68C049FE817}" type="slidenum">
              <a:rPr lang="en-US" altLang="en-US">
                <a:latin typeface="Calibri" pitchFamily="-109" charset="0"/>
              </a:rPr>
              <a:pPr/>
              <a:t>1</a:t>
            </a:fld>
            <a:endParaRPr lang="en-US" altLang="en-US" dirty="0">
              <a:latin typeface="Calibri" pitchFamily="-109" charset="0"/>
            </a:endParaRPr>
          </a:p>
        </p:txBody>
      </p:sp>
    </p:spTree>
    <p:extLst>
      <p:ext uri="{BB962C8B-B14F-4D97-AF65-F5344CB8AC3E}">
        <p14:creationId xmlns:p14="http://schemas.microsoft.com/office/powerpoint/2010/main" val="119052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A5849AF-B928-4EEE-B710-E11DA8A2D435}" type="slidenum">
              <a:rPr lang="en-IN" smtClean="0"/>
              <a:t>2</a:t>
            </a:fld>
            <a:endParaRPr lang="en-IN"/>
          </a:p>
        </p:txBody>
      </p:sp>
    </p:spTree>
    <p:extLst>
      <p:ext uri="{BB962C8B-B14F-4D97-AF65-F5344CB8AC3E}">
        <p14:creationId xmlns:p14="http://schemas.microsoft.com/office/powerpoint/2010/main" val="993924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A5849AF-B928-4EEE-B710-E11DA8A2D435}" type="slidenum">
              <a:rPr lang="en-IN" smtClean="0"/>
              <a:t>3</a:t>
            </a:fld>
            <a:endParaRPr lang="en-IN"/>
          </a:p>
        </p:txBody>
      </p:sp>
    </p:spTree>
    <p:extLst>
      <p:ext uri="{BB962C8B-B14F-4D97-AF65-F5344CB8AC3E}">
        <p14:creationId xmlns:p14="http://schemas.microsoft.com/office/powerpoint/2010/main" val="2684748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A5849AF-B928-4EEE-B710-E11DA8A2D435}" type="slidenum">
              <a:rPr lang="en-IN" smtClean="0"/>
              <a:t>4</a:t>
            </a:fld>
            <a:endParaRPr lang="en-IN"/>
          </a:p>
        </p:txBody>
      </p:sp>
    </p:spTree>
    <p:extLst>
      <p:ext uri="{BB962C8B-B14F-4D97-AF65-F5344CB8AC3E}">
        <p14:creationId xmlns:p14="http://schemas.microsoft.com/office/powerpoint/2010/main" val="1334917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Members of the public are increasingly using the internet to research their health concerns.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For example, the United Kingdom’s online patient portal for national health information, NHS Choices, reports over 15 million visits per month.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More than a third of adults in the United States regularly use the internet to self-diagnose.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Self-diagnosis usually starts with search engines like Google, Bing, or Yahoo. However, internet search engines can lead users to confusing.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u="none" strike="noStrike" kern="1200" baseline="0" dirty="0">
                <a:solidFill>
                  <a:schemeClr val="tx1"/>
                </a:solidFill>
                <a:latin typeface="+mn-lt"/>
                <a:ea typeface="+mn-ea"/>
                <a:cs typeface="+mn-cs"/>
              </a:rPr>
              <a:t>The probability of patients receiving at least one medicine for secondary prevention of cardiovascular disease was 19.8% in low-income countries.</a:t>
            </a: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5</a:t>
            </a:fld>
            <a:endParaRPr lang="en-IN"/>
          </a:p>
        </p:txBody>
      </p:sp>
    </p:spTree>
    <p:extLst>
      <p:ext uri="{BB962C8B-B14F-4D97-AF65-F5344CB8AC3E}">
        <p14:creationId xmlns:p14="http://schemas.microsoft.com/office/powerpoint/2010/main" val="307596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6</a:t>
            </a:fld>
            <a:endParaRPr lang="en-IN"/>
          </a:p>
        </p:txBody>
      </p:sp>
    </p:spTree>
    <p:extLst>
      <p:ext uri="{BB962C8B-B14F-4D97-AF65-F5344CB8AC3E}">
        <p14:creationId xmlns:p14="http://schemas.microsoft.com/office/powerpoint/2010/main" val="1155429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7</a:t>
            </a:fld>
            <a:endParaRPr lang="en-IN"/>
          </a:p>
        </p:txBody>
      </p:sp>
    </p:spTree>
    <p:extLst>
      <p:ext uri="{BB962C8B-B14F-4D97-AF65-F5344CB8AC3E}">
        <p14:creationId xmlns:p14="http://schemas.microsoft.com/office/powerpoint/2010/main" val="2523301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8</a:t>
            </a:fld>
            <a:endParaRPr lang="en-IN"/>
          </a:p>
        </p:txBody>
      </p:sp>
    </p:spTree>
    <p:extLst>
      <p:ext uri="{BB962C8B-B14F-4D97-AF65-F5344CB8AC3E}">
        <p14:creationId xmlns:p14="http://schemas.microsoft.com/office/powerpoint/2010/main" val="10777481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A5849AF-B928-4EEE-B710-E11DA8A2D435}" type="slidenum">
              <a:rPr lang="en-IN" smtClean="0"/>
              <a:t>10</a:t>
            </a:fld>
            <a:endParaRPr lang="en-IN"/>
          </a:p>
        </p:txBody>
      </p:sp>
    </p:spTree>
    <p:extLst>
      <p:ext uri="{BB962C8B-B14F-4D97-AF65-F5344CB8AC3E}">
        <p14:creationId xmlns:p14="http://schemas.microsoft.com/office/powerpoint/2010/main" val="298196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11</a:t>
            </a:fld>
            <a:endParaRPr lang="en-IN"/>
          </a:p>
        </p:txBody>
      </p:sp>
    </p:spTree>
    <p:extLst>
      <p:ext uri="{BB962C8B-B14F-4D97-AF65-F5344CB8AC3E}">
        <p14:creationId xmlns:p14="http://schemas.microsoft.com/office/powerpoint/2010/main" val="4084241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12</a:t>
            </a:fld>
            <a:endParaRPr lang="en-IN"/>
          </a:p>
        </p:txBody>
      </p:sp>
    </p:spTree>
    <p:extLst>
      <p:ext uri="{BB962C8B-B14F-4D97-AF65-F5344CB8AC3E}">
        <p14:creationId xmlns:p14="http://schemas.microsoft.com/office/powerpoint/2010/main" val="251691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13</a:t>
            </a:fld>
            <a:endParaRPr lang="en-IN"/>
          </a:p>
        </p:txBody>
      </p:sp>
    </p:spTree>
    <p:extLst>
      <p:ext uri="{BB962C8B-B14F-4D97-AF65-F5344CB8AC3E}">
        <p14:creationId xmlns:p14="http://schemas.microsoft.com/office/powerpoint/2010/main" val="3828613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14</a:t>
            </a:fld>
            <a:endParaRPr lang="en-IN"/>
          </a:p>
        </p:txBody>
      </p:sp>
    </p:spTree>
    <p:extLst>
      <p:ext uri="{BB962C8B-B14F-4D97-AF65-F5344CB8AC3E}">
        <p14:creationId xmlns:p14="http://schemas.microsoft.com/office/powerpoint/2010/main" val="2541071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15</a:t>
            </a:fld>
            <a:endParaRPr lang="en-IN"/>
          </a:p>
        </p:txBody>
      </p:sp>
    </p:spTree>
    <p:extLst>
      <p:ext uri="{BB962C8B-B14F-4D97-AF65-F5344CB8AC3E}">
        <p14:creationId xmlns:p14="http://schemas.microsoft.com/office/powerpoint/2010/main" val="2024277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16</a:t>
            </a:fld>
            <a:endParaRPr lang="en-IN"/>
          </a:p>
        </p:txBody>
      </p:sp>
    </p:spTree>
    <p:extLst>
      <p:ext uri="{BB962C8B-B14F-4D97-AF65-F5344CB8AC3E}">
        <p14:creationId xmlns:p14="http://schemas.microsoft.com/office/powerpoint/2010/main" val="474445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17</a:t>
            </a:fld>
            <a:endParaRPr lang="en-IN"/>
          </a:p>
        </p:txBody>
      </p:sp>
    </p:spTree>
    <p:extLst>
      <p:ext uri="{BB962C8B-B14F-4D97-AF65-F5344CB8AC3E}">
        <p14:creationId xmlns:p14="http://schemas.microsoft.com/office/powerpoint/2010/main" val="25279512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18</a:t>
            </a:fld>
            <a:endParaRPr lang="en-IN"/>
          </a:p>
        </p:txBody>
      </p:sp>
    </p:spTree>
    <p:extLst>
      <p:ext uri="{BB962C8B-B14F-4D97-AF65-F5344CB8AC3E}">
        <p14:creationId xmlns:p14="http://schemas.microsoft.com/office/powerpoint/2010/main" val="1375495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19</a:t>
            </a:fld>
            <a:endParaRPr lang="en-IN"/>
          </a:p>
        </p:txBody>
      </p:sp>
    </p:spTree>
    <p:extLst>
      <p:ext uri="{BB962C8B-B14F-4D97-AF65-F5344CB8AC3E}">
        <p14:creationId xmlns:p14="http://schemas.microsoft.com/office/powerpoint/2010/main" val="10575150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A5849AF-B928-4EEE-B710-E11DA8A2D435}" type="slidenum">
              <a:rPr lang="en-IN" smtClean="0"/>
              <a:t>20</a:t>
            </a:fld>
            <a:endParaRPr lang="en-IN"/>
          </a:p>
        </p:txBody>
      </p:sp>
    </p:spTree>
    <p:extLst>
      <p:ext uri="{BB962C8B-B14F-4D97-AF65-F5344CB8AC3E}">
        <p14:creationId xmlns:p14="http://schemas.microsoft.com/office/powerpoint/2010/main" val="2087091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D23DAE-0735-4507-A73A-61ACB5B5914A}"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1449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B8382B-556A-42EB-B79F-B815A9232A03}"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30771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36BA1DB-E6D5-476E-9E1C-6B9F10E54DF0}"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10655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692ED8-AAEB-4C12-B2B9-1BCA58D0B4A2}"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69346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622633-4762-43B1-BA14-7D0346D02E60}" type="datetime1">
              <a:rPr lang="en-US" smtClean="0"/>
              <a:t>9/5/2019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27481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AEFEC9-ED69-4245-B698-D9D19D9DCBAB}" type="datetime1">
              <a:rPr lang="en-US" smtClean="0"/>
              <a:t>9/5/2019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584108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FEAD82-EB9D-42A3-BFC0-A01579BB3A3E}" type="datetime1">
              <a:rPr lang="en-US" smtClean="0"/>
              <a:t>9/5/2019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16655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29721C6-AF07-4493-91EA-2A210D7206DA}"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89696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E4B1FA90-9343-4FB3-928F-BB0C463FF71D}"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950773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EC55399-75D8-465F-B6A1-CC2EFB67064C}"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0506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239825-8E51-43C3-AB17-32F734BBF16B}"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02111984F565}" type="slidenum">
              <a:rPr lang="en-US" smtClean="0"/>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70640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F5A9FEBF-5F24-416A-AEB1-B4F5B4CB6CFC}"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65163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CBD6F9B-9932-4EF5-8DF7-5ACF38528549}"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81845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CAA62FE-D044-43A2-B366-6A45EC2658B4}" type="datetime1">
              <a:rPr lang="en-US" smtClean="0"/>
              <a:t>9/5/2019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998240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3FD4A-9E15-4A00-BC6A-8BFA17F7A324}"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3685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9C8C3B-08E2-4FA8-AE66-3C00F3EDA81D}" type="datetime1">
              <a:rPr lang="en-US" smtClean="0"/>
              <a:t>9/5/2019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5071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3ADAD7B-CC95-41D5-89EB-777E6ED2A918}" type="datetime1">
              <a:rPr lang="en-US" smtClean="0"/>
              <a:t>9/5/2019</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3678974508"/>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2" name="Picture 18" descr="sampleimage2.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3908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A5D253AC-B2EA-4EDE-B57E-1CEF16771D77}"/>
              </a:ext>
            </a:extLst>
          </p:cNvPr>
          <p:cNvSpPr>
            <a:spLocks noGrp="1"/>
          </p:cNvSpPr>
          <p:nvPr>
            <p:ph type="ctrTitle"/>
          </p:nvPr>
        </p:nvSpPr>
        <p:spPr>
          <a:xfrm>
            <a:off x="4106692" y="246743"/>
            <a:ext cx="8038275" cy="5892799"/>
          </a:xfrm>
        </p:spPr>
        <p:txBody>
          <a:bodyPr>
            <a:normAutofit/>
          </a:bodyPr>
          <a:lstStyle/>
          <a:p>
            <a:pPr algn="ct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Smart Health Care System</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by</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Dishant Kumar Kushwaha</a:t>
            </a:r>
            <a:br>
              <a:rPr lang="en-IN" sz="3200" dirty="0">
                <a:latin typeface="Times New Roman" panose="02020603050405020304" pitchFamily="18" charset="0"/>
                <a:cs typeface="Times New Roman" panose="02020603050405020304" pitchFamily="18" charset="0"/>
              </a:rPr>
            </a:br>
            <a:r>
              <a:rPr lang="en-IN" sz="3200" dirty="0" err="1">
                <a:latin typeface="Times New Roman" panose="02020603050405020304" pitchFamily="18" charset="0"/>
                <a:cs typeface="Times New Roman" panose="02020603050405020304" pitchFamily="18" charset="0"/>
              </a:rPr>
              <a:t>Vantika</a:t>
            </a:r>
            <a:r>
              <a:rPr lang="en-IN" sz="3200" dirty="0">
                <a:latin typeface="Times New Roman" panose="02020603050405020304" pitchFamily="18" charset="0"/>
                <a:cs typeface="Times New Roman" panose="02020603050405020304" pitchFamily="18" charset="0"/>
              </a:rPr>
              <a:t> Agarwal</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Ashwani Kumar</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Anjali Yadav</a:t>
            </a:r>
            <a:br>
              <a:rPr lang="en-IN" sz="3200" dirty="0">
                <a:latin typeface="Times New Roman" panose="02020603050405020304" pitchFamily="18" charset="0"/>
                <a:cs typeface="Times New Roman" panose="02020603050405020304" pitchFamily="18" charset="0"/>
              </a:rPr>
            </a:br>
            <a:r>
              <a:rPr lang="en-IN" sz="3200">
                <a:latin typeface="Times New Roman" panose="02020603050405020304" pitchFamily="18" charset="0"/>
                <a:cs typeface="Times New Roman" panose="02020603050405020304" pitchFamily="18" charset="0"/>
              </a:rPr>
              <a:t>Shivani  Bharti</a:t>
            </a: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4F98AE5-DD89-4389-85F2-B6264BC7EE3C}"/>
              </a:ext>
            </a:extLst>
          </p:cNvPr>
          <p:cNvSpPr>
            <a:spLocks noGrp="1"/>
          </p:cNvSpPr>
          <p:nvPr>
            <p:ph type="sldNum" sz="quarter" idx="12"/>
          </p:nvPr>
        </p:nvSpPr>
        <p:spPr/>
        <p:txBody>
          <a:bodyPr/>
          <a:lstStyle/>
          <a:p>
            <a:fld id="{D57F1E4F-1CFF-5643-939E-02111984F565}" type="slidenum">
              <a:rPr lang="en-US" smtClean="0"/>
              <a:t>1</a:t>
            </a:fld>
            <a:endParaRPr lang="en-US" dirty="0"/>
          </a:p>
        </p:txBody>
      </p:sp>
    </p:spTree>
    <p:extLst>
      <p:ext uri="{BB962C8B-B14F-4D97-AF65-F5344CB8AC3E}">
        <p14:creationId xmlns:p14="http://schemas.microsoft.com/office/powerpoint/2010/main" val="1441239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9408" y="711972"/>
            <a:ext cx="9070173" cy="816840"/>
          </a:xfrm>
        </p:spPr>
        <p:txBody>
          <a:bodyPr/>
          <a:lstStyle/>
          <a:p>
            <a:r>
              <a:rPr lang="en-US" sz="3200" b="1" dirty="0">
                <a:latin typeface="Times New Roman" panose="02020603050405020304" pitchFamily="18" charset="0"/>
                <a:cs typeface="Times New Roman" panose="02020603050405020304" pitchFamily="18" charset="0"/>
              </a:rPr>
              <a:t>OUTLINE</a:t>
            </a:r>
          </a:p>
        </p:txBody>
      </p:sp>
      <p:sp>
        <p:nvSpPr>
          <p:cNvPr id="6" name="Rectangle 5"/>
          <p:cNvSpPr/>
          <p:nvPr/>
        </p:nvSpPr>
        <p:spPr>
          <a:xfrm>
            <a:off x="1699408" y="1448802"/>
            <a:ext cx="6907382" cy="5421997"/>
          </a:xfrm>
          <a:prstGeom prst="rect">
            <a:avLst/>
          </a:prstGeom>
        </p:spPr>
        <p:txBody>
          <a:bodyPr wrap="square">
            <a:spAutoFit/>
          </a:bodyPr>
          <a:lstStyle/>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Introduction</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HMS</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Symptom Checker</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Existing System</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Proposed System</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Modules</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Functionality</a:t>
            </a:r>
          </a:p>
          <a:p>
            <a:pPr marL="342900" indent="-342900" algn="just">
              <a:lnSpc>
                <a:spcPct val="150000"/>
              </a:lnSpc>
              <a:spcBef>
                <a:spcPts val="1000"/>
              </a:spcBef>
              <a:buClr>
                <a:schemeClr val="accent1"/>
              </a:buClr>
              <a:buFont typeface="Wingdings 3" charset="2"/>
              <a:buChar char=""/>
            </a:pPr>
            <a:r>
              <a:rPr lang="en-US" dirty="0">
                <a:solidFill>
                  <a:schemeClr val="tx1">
                    <a:lumMod val="75000"/>
                    <a:lumOff val="25000"/>
                  </a:schemeClr>
                </a:solidFill>
              </a:rPr>
              <a:t>Future Enhancements</a:t>
            </a:r>
          </a:p>
          <a:p>
            <a:pPr marL="342900" indent="-342900"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981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156" y="630000"/>
            <a:ext cx="9404723" cy="725451"/>
          </a:xfrm>
        </p:spPr>
        <p:txBody>
          <a:bodyPr/>
          <a:lstStyle/>
          <a:p>
            <a:pPr algn="just"/>
            <a:r>
              <a:rPr lang="en-US" sz="3200" b="1"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p:cNvSpPr>
            <a:spLocks noGrp="1"/>
          </p:cNvSpPr>
          <p:nvPr>
            <p:ph idx="1"/>
          </p:nvPr>
        </p:nvSpPr>
        <p:spPr>
          <a:xfrm>
            <a:off x="1635156" y="1499003"/>
            <a:ext cx="9104379" cy="4321225"/>
          </a:xfrm>
        </p:spPr>
        <p:txBody>
          <a:bodyPr>
            <a:normAutofit/>
          </a:bodyPr>
          <a:lstStyle/>
          <a:p>
            <a:pPr algn="just"/>
            <a:r>
              <a:rPr lang="en-IN" dirty="0"/>
              <a:t>Goal: To develop a web based application by integrating HMS and Symptom checker tool.</a:t>
            </a:r>
          </a:p>
          <a:p>
            <a:pPr algn="just"/>
            <a:r>
              <a:rPr lang="en-US" dirty="0"/>
              <a:t>A hospital or healthcare center is a full-time activity zone. Hundreds of patients get treated for a variety of problems. Since a large volume of data gets generated on the daily basis, maintaining it in conventional methods is highly difficult.</a:t>
            </a:r>
          </a:p>
          <a:p>
            <a:pPr algn="just"/>
            <a:r>
              <a:rPr lang="en-US" dirty="0"/>
              <a:t>IT-based Hospital Management System (HMS as they are referred to) make the life easy. These smart and efficient systems take care of operational aspects so that the healthcare center can concentrate on enhanced patient care.</a:t>
            </a:r>
          </a:p>
          <a:p>
            <a:pPr algn="just"/>
            <a:r>
              <a:rPr lang="en-US" dirty="0"/>
              <a:t>Smart Health Care system (HCS) is a computer or web-based system that facilitates managing the functioning of the hospital or any medical set up but with a symptom checker tool.</a:t>
            </a:r>
            <a:endParaRPr lang="en-IN" dirty="0"/>
          </a:p>
        </p:txBody>
      </p:sp>
      <p:sp>
        <p:nvSpPr>
          <p:cNvPr id="4" name="Slide Number Placeholder 3">
            <a:extLst>
              <a:ext uri="{FF2B5EF4-FFF2-40B4-BE49-F238E27FC236}">
                <a16:creationId xmlns:a16="http://schemas.microsoft.com/office/drawing/2014/main" id="{FF2C6FDD-5137-4BC9-86F6-D324C4C9A23F}"/>
              </a:ext>
            </a:extLst>
          </p:cNvPr>
          <p:cNvSpPr>
            <a:spLocks noGrp="1"/>
          </p:cNvSpPr>
          <p:nvPr>
            <p:ph type="sldNum" sz="quarter" idx="12"/>
          </p:nvPr>
        </p:nvSpPr>
        <p:spPr/>
        <p:txBody>
          <a:bodyPr/>
          <a:lstStyle/>
          <a:p>
            <a:r>
              <a:rPr lang="en-US" dirty="0"/>
              <a:t>1</a:t>
            </a:r>
          </a:p>
        </p:txBody>
      </p:sp>
    </p:spTree>
    <p:extLst>
      <p:ext uri="{BB962C8B-B14F-4D97-AF65-F5344CB8AC3E}">
        <p14:creationId xmlns:p14="http://schemas.microsoft.com/office/powerpoint/2010/main" val="658973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5156" y="630000"/>
            <a:ext cx="9404723" cy="725451"/>
          </a:xfrm>
        </p:spPr>
        <p:txBody>
          <a:bodyPr/>
          <a:lstStyle/>
          <a:p>
            <a:pPr algn="just"/>
            <a:r>
              <a:rPr lang="en-US" sz="3200" b="1" dirty="0">
                <a:latin typeface="Times New Roman" panose="02020603050405020304" pitchFamily="18" charset="0"/>
                <a:cs typeface="Times New Roman" panose="02020603050405020304" pitchFamily="18" charset="0"/>
              </a:rPr>
              <a:t>HMS</a:t>
            </a:r>
            <a:endParaRPr lang="en-US" dirty="0"/>
          </a:p>
        </p:txBody>
      </p:sp>
      <p:sp>
        <p:nvSpPr>
          <p:cNvPr id="3" name="Content Placeholder 2"/>
          <p:cNvSpPr>
            <a:spLocks noGrp="1"/>
          </p:cNvSpPr>
          <p:nvPr>
            <p:ph idx="1"/>
          </p:nvPr>
        </p:nvSpPr>
        <p:spPr>
          <a:xfrm>
            <a:off x="1635156" y="1499003"/>
            <a:ext cx="9104379" cy="4321225"/>
          </a:xfrm>
        </p:spPr>
        <p:txBody>
          <a:bodyPr>
            <a:normAutofit/>
          </a:bodyPr>
          <a:lstStyle/>
          <a:p>
            <a:pPr algn="just"/>
            <a:r>
              <a:rPr lang="en-US" dirty="0"/>
              <a:t>Installing an IT-based HMS brings incredible operational efficiency and speed.</a:t>
            </a:r>
            <a:endParaRPr lang="en-IN" dirty="0"/>
          </a:p>
          <a:p>
            <a:pPr lvl="0" algn="just"/>
            <a:r>
              <a:rPr lang="en-US" dirty="0"/>
              <a:t>Data management becomes simple</a:t>
            </a:r>
            <a:r>
              <a:rPr lang="en-IN" dirty="0"/>
              <a:t>.</a:t>
            </a:r>
          </a:p>
          <a:p>
            <a:pPr lvl="0" algn="just"/>
            <a:r>
              <a:rPr lang="en-US" dirty="0"/>
              <a:t>It is a statutory requirement.</a:t>
            </a:r>
          </a:p>
          <a:p>
            <a:pPr algn="just"/>
            <a:r>
              <a:rPr lang="en-US" dirty="0"/>
              <a:t>Top management gets at-a-glance view.</a:t>
            </a:r>
          </a:p>
          <a:p>
            <a:pPr algn="just"/>
            <a:r>
              <a:rPr lang="en-US" dirty="0"/>
              <a:t>Keeps operational expenses under control.</a:t>
            </a:r>
            <a:endParaRPr lang="en-IN" dirty="0"/>
          </a:p>
          <a:p>
            <a:pPr lvl="0" algn="just"/>
            <a:r>
              <a:rPr lang="en-US" dirty="0"/>
              <a:t>Reduces the dependency on human resources.</a:t>
            </a:r>
          </a:p>
          <a:p>
            <a:pPr algn="just"/>
            <a:r>
              <a:rPr lang="en-US" dirty="0"/>
              <a:t>Offers the interface to extract and retrieve data quickly.</a:t>
            </a:r>
          </a:p>
          <a:p>
            <a:pPr algn="just"/>
            <a:r>
              <a:rPr lang="en-US" dirty="0"/>
              <a:t>A state-of-the-art healthcare center can’t survive without it.</a:t>
            </a:r>
          </a:p>
        </p:txBody>
      </p:sp>
      <p:sp>
        <p:nvSpPr>
          <p:cNvPr id="4" name="Slide Number Placeholder 3">
            <a:extLst>
              <a:ext uri="{FF2B5EF4-FFF2-40B4-BE49-F238E27FC236}">
                <a16:creationId xmlns:a16="http://schemas.microsoft.com/office/drawing/2014/main" id="{30978B78-03FB-401A-8758-C54998923FCB}"/>
              </a:ext>
            </a:extLst>
          </p:cNvPr>
          <p:cNvSpPr>
            <a:spLocks noGrp="1"/>
          </p:cNvSpPr>
          <p:nvPr>
            <p:ph type="sldNum" sz="quarter" idx="12"/>
          </p:nvPr>
        </p:nvSpPr>
        <p:spPr/>
        <p:txBody>
          <a:bodyPr/>
          <a:lstStyle/>
          <a:p>
            <a:r>
              <a:rPr lang="en-US" dirty="0"/>
              <a:t>2</a:t>
            </a:r>
          </a:p>
        </p:txBody>
      </p:sp>
    </p:spTree>
    <p:extLst>
      <p:ext uri="{BB962C8B-B14F-4D97-AF65-F5344CB8AC3E}">
        <p14:creationId xmlns:p14="http://schemas.microsoft.com/office/powerpoint/2010/main" val="6797207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Symptom Checker</a:t>
            </a:r>
          </a:p>
        </p:txBody>
      </p:sp>
      <p:sp>
        <p:nvSpPr>
          <p:cNvPr id="3" name="Content Placeholder 2"/>
          <p:cNvSpPr>
            <a:spLocks noGrp="1"/>
          </p:cNvSpPr>
          <p:nvPr>
            <p:ph idx="1"/>
          </p:nvPr>
        </p:nvSpPr>
        <p:spPr>
          <a:xfrm>
            <a:off x="1673584" y="1566944"/>
            <a:ext cx="8758040" cy="3629170"/>
          </a:xfrm>
        </p:spPr>
        <p:txBody>
          <a:bodyPr>
            <a:normAutofit/>
          </a:bodyPr>
          <a:lstStyle/>
          <a:p>
            <a:pPr algn="just"/>
            <a:r>
              <a:rPr lang="en-US" dirty="0"/>
              <a:t>Symptom checkers are the tools for self-diagnosis.</a:t>
            </a:r>
          </a:p>
          <a:p>
            <a:pPr algn="just"/>
            <a:r>
              <a:rPr lang="en-US" dirty="0"/>
              <a:t>Symptom checkers make a diagnosis of a disease based on the data on the specificity of symptoms.</a:t>
            </a:r>
          </a:p>
          <a:p>
            <a:pPr algn="just"/>
            <a:r>
              <a:rPr lang="en-US" dirty="0"/>
              <a:t>May be less effective than physicians in diagnostic accuracy for now.</a:t>
            </a:r>
          </a:p>
          <a:p>
            <a:pPr algn="just"/>
            <a:r>
              <a:rPr lang="en-US" dirty="0"/>
              <a:t>Diagnostic accuracy of symptom checkers can be improved after appropriate feedback.</a:t>
            </a:r>
          </a:p>
          <a:p>
            <a:pPr algn="just"/>
            <a:r>
              <a:rPr lang="en-US" dirty="0"/>
              <a:t>Useful to provide the access to health care in low resource settings such as in rural areas or developing countries.</a:t>
            </a:r>
          </a:p>
          <a:p>
            <a:pPr algn="just"/>
            <a:r>
              <a:rPr lang="en-US" dirty="0"/>
              <a:t>Examples: WebMD symptom checker, Mayo Clinic symptom checker, Healthline symptom checker.</a:t>
            </a:r>
            <a:endParaRPr lang="en-IN" dirty="0"/>
          </a:p>
        </p:txBody>
      </p:sp>
      <p:sp>
        <p:nvSpPr>
          <p:cNvPr id="5" name="Slide Number Placeholder 4">
            <a:extLst>
              <a:ext uri="{FF2B5EF4-FFF2-40B4-BE49-F238E27FC236}">
                <a16:creationId xmlns:a16="http://schemas.microsoft.com/office/drawing/2014/main" id="{DE1FE3A2-4F3B-494A-987F-1EC4BF234E41}"/>
              </a:ext>
            </a:extLst>
          </p:cNvPr>
          <p:cNvSpPr>
            <a:spLocks noGrp="1"/>
          </p:cNvSpPr>
          <p:nvPr>
            <p:ph type="sldNum" sz="quarter" idx="12"/>
          </p:nvPr>
        </p:nvSpPr>
        <p:spPr/>
        <p:txBody>
          <a:bodyPr/>
          <a:lstStyle/>
          <a:p>
            <a:r>
              <a:rPr lang="en-US" dirty="0"/>
              <a:t>3</a:t>
            </a:r>
          </a:p>
        </p:txBody>
      </p:sp>
    </p:spTree>
    <p:extLst>
      <p:ext uri="{BB962C8B-B14F-4D97-AF65-F5344CB8AC3E}">
        <p14:creationId xmlns:p14="http://schemas.microsoft.com/office/powerpoint/2010/main" val="710905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Existing System</a:t>
            </a:r>
          </a:p>
        </p:txBody>
      </p:sp>
      <p:sp>
        <p:nvSpPr>
          <p:cNvPr id="3" name="Slide Number Placeholder 2">
            <a:extLst>
              <a:ext uri="{FF2B5EF4-FFF2-40B4-BE49-F238E27FC236}">
                <a16:creationId xmlns:a16="http://schemas.microsoft.com/office/drawing/2014/main" id="{910A328F-A9ED-45E6-BB1F-524ABD93C5A5}"/>
              </a:ext>
            </a:extLst>
          </p:cNvPr>
          <p:cNvSpPr>
            <a:spLocks noGrp="1"/>
          </p:cNvSpPr>
          <p:nvPr>
            <p:ph type="sldNum" sz="quarter" idx="12"/>
          </p:nvPr>
        </p:nvSpPr>
        <p:spPr/>
        <p:txBody>
          <a:bodyPr/>
          <a:lstStyle/>
          <a:p>
            <a:r>
              <a:rPr lang="en-US" dirty="0"/>
              <a:t>4</a:t>
            </a:r>
          </a:p>
        </p:txBody>
      </p:sp>
      <p:sp>
        <p:nvSpPr>
          <p:cNvPr id="5" name="Content Placeholder 2">
            <a:extLst>
              <a:ext uri="{FF2B5EF4-FFF2-40B4-BE49-F238E27FC236}">
                <a16:creationId xmlns:a16="http://schemas.microsoft.com/office/drawing/2014/main" id="{0DEE1CF0-4047-4B9B-B031-04D9D3AA56AD}"/>
              </a:ext>
            </a:extLst>
          </p:cNvPr>
          <p:cNvSpPr>
            <a:spLocks noGrp="1"/>
          </p:cNvSpPr>
          <p:nvPr>
            <p:ph idx="1"/>
          </p:nvPr>
        </p:nvSpPr>
        <p:spPr>
          <a:xfrm>
            <a:off x="1673584" y="1566944"/>
            <a:ext cx="8758040" cy="3629170"/>
          </a:xfrm>
        </p:spPr>
        <p:txBody>
          <a:bodyPr>
            <a:normAutofit/>
          </a:bodyPr>
          <a:lstStyle/>
          <a:p>
            <a:pPr lvl="0" algn="just"/>
            <a:r>
              <a:rPr lang="en-US" dirty="0"/>
              <a:t>No ERP provides HMS and Symptom checker tool as a single suite.</a:t>
            </a:r>
            <a:endParaRPr lang="en-IN" dirty="0"/>
          </a:p>
          <a:p>
            <a:pPr lvl="0" algn="just"/>
            <a:r>
              <a:rPr lang="en-IN" dirty="0"/>
              <a:t>Not many reliable Symptom checkers for initial diagnosis.</a:t>
            </a:r>
          </a:p>
          <a:p>
            <a:pPr lvl="0" algn="just"/>
            <a:r>
              <a:rPr lang="en-IN" dirty="0"/>
              <a:t>Multiple symptoms leading to inconsistent results.</a:t>
            </a:r>
          </a:p>
          <a:p>
            <a:pPr lvl="0" algn="just"/>
            <a:r>
              <a:rPr lang="en-IN" dirty="0"/>
              <a:t>Medical records about the Patient visit are not available online.</a:t>
            </a:r>
          </a:p>
          <a:p>
            <a:pPr lvl="0" algn="just"/>
            <a:r>
              <a:rPr lang="en-IN" dirty="0"/>
              <a:t>Patients/Users cannot directly interact with the doctors.</a:t>
            </a:r>
          </a:p>
          <a:p>
            <a:pPr lvl="0" algn="just"/>
            <a:r>
              <a:rPr lang="en-IN" dirty="0"/>
              <a:t>Implementing or upgrading an ERP is very expensive.</a:t>
            </a:r>
          </a:p>
        </p:txBody>
      </p:sp>
    </p:spTree>
    <p:extLst>
      <p:ext uri="{BB962C8B-B14F-4D97-AF65-F5344CB8AC3E}">
        <p14:creationId xmlns:p14="http://schemas.microsoft.com/office/powerpoint/2010/main" val="4292817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Proposed System</a:t>
            </a:r>
          </a:p>
        </p:txBody>
      </p:sp>
      <p:sp>
        <p:nvSpPr>
          <p:cNvPr id="3" name="Slide Number Placeholder 2">
            <a:extLst>
              <a:ext uri="{FF2B5EF4-FFF2-40B4-BE49-F238E27FC236}">
                <a16:creationId xmlns:a16="http://schemas.microsoft.com/office/drawing/2014/main" id="{910A328F-A9ED-45E6-BB1F-524ABD93C5A5}"/>
              </a:ext>
            </a:extLst>
          </p:cNvPr>
          <p:cNvSpPr>
            <a:spLocks noGrp="1"/>
          </p:cNvSpPr>
          <p:nvPr>
            <p:ph type="sldNum" sz="quarter" idx="12"/>
          </p:nvPr>
        </p:nvSpPr>
        <p:spPr/>
        <p:txBody>
          <a:bodyPr/>
          <a:lstStyle/>
          <a:p>
            <a:r>
              <a:rPr lang="en-US" dirty="0"/>
              <a:t>5</a:t>
            </a:r>
          </a:p>
        </p:txBody>
      </p:sp>
      <p:sp>
        <p:nvSpPr>
          <p:cNvPr id="6" name="Content Placeholder 2">
            <a:extLst>
              <a:ext uri="{FF2B5EF4-FFF2-40B4-BE49-F238E27FC236}">
                <a16:creationId xmlns:a16="http://schemas.microsoft.com/office/drawing/2014/main" id="{19BA77BB-1336-4E15-A7AA-F4BC1F1ABAA5}"/>
              </a:ext>
            </a:extLst>
          </p:cNvPr>
          <p:cNvSpPr>
            <a:spLocks noGrp="1"/>
          </p:cNvSpPr>
          <p:nvPr>
            <p:ph idx="1"/>
          </p:nvPr>
        </p:nvSpPr>
        <p:spPr>
          <a:xfrm>
            <a:off x="1673584" y="1566944"/>
            <a:ext cx="8758040" cy="4033756"/>
          </a:xfrm>
        </p:spPr>
        <p:txBody>
          <a:bodyPr>
            <a:normAutofit/>
          </a:bodyPr>
          <a:lstStyle/>
          <a:p>
            <a:pPr algn="just"/>
            <a:r>
              <a:rPr lang="en-US" dirty="0"/>
              <a:t>The proposed system combines the functionality of a Hospital Management System and Symptom checker, which is why it is named as Smart Health Care System.</a:t>
            </a:r>
          </a:p>
          <a:p>
            <a:pPr algn="just"/>
            <a:r>
              <a:rPr lang="en-US" dirty="0"/>
              <a:t>Integrating both HMS and symptom checker makes it easier for both the patients and doctors, making it first of its kind.</a:t>
            </a:r>
          </a:p>
          <a:p>
            <a:pPr algn="just"/>
            <a:r>
              <a:rPr lang="en-US" dirty="0"/>
              <a:t>Patients will be able to use the symptom checker for initial diagnosis and can book an appointment with the doctor then and there, send a query to the doctor based on his/her symptoms and results given by the symptom checker.</a:t>
            </a:r>
          </a:p>
          <a:p>
            <a:pPr algn="just"/>
            <a:r>
              <a:rPr lang="en-US" dirty="0"/>
              <a:t>Doctor is provided with access to reply to the patients’ queries.</a:t>
            </a:r>
          </a:p>
          <a:p>
            <a:pPr algn="just"/>
            <a:r>
              <a:rPr lang="en-US" dirty="0"/>
              <a:t>HMS with a symptom checker makes the co-ordination between a doctor and patient easy and hassle free.</a:t>
            </a:r>
            <a:endParaRPr lang="en-IN" dirty="0"/>
          </a:p>
          <a:p>
            <a:pPr algn="just"/>
            <a:endParaRPr lang="en-IN" dirty="0"/>
          </a:p>
        </p:txBody>
      </p:sp>
    </p:spTree>
    <p:extLst>
      <p:ext uri="{BB962C8B-B14F-4D97-AF65-F5344CB8AC3E}">
        <p14:creationId xmlns:p14="http://schemas.microsoft.com/office/powerpoint/2010/main" val="281658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Modules</a:t>
            </a:r>
          </a:p>
        </p:txBody>
      </p:sp>
      <p:sp>
        <p:nvSpPr>
          <p:cNvPr id="3" name="Slide Number Placeholder 2">
            <a:extLst>
              <a:ext uri="{FF2B5EF4-FFF2-40B4-BE49-F238E27FC236}">
                <a16:creationId xmlns:a16="http://schemas.microsoft.com/office/drawing/2014/main" id="{A3A98300-2807-44BA-82C0-BCED8962C07D}"/>
              </a:ext>
            </a:extLst>
          </p:cNvPr>
          <p:cNvSpPr>
            <a:spLocks noGrp="1"/>
          </p:cNvSpPr>
          <p:nvPr>
            <p:ph type="sldNum" sz="quarter" idx="12"/>
          </p:nvPr>
        </p:nvSpPr>
        <p:spPr/>
        <p:txBody>
          <a:bodyPr/>
          <a:lstStyle/>
          <a:p>
            <a:r>
              <a:rPr lang="en-US" dirty="0"/>
              <a:t>6</a:t>
            </a:r>
          </a:p>
        </p:txBody>
      </p:sp>
      <p:sp>
        <p:nvSpPr>
          <p:cNvPr id="5" name="Content Placeholder 2">
            <a:extLst>
              <a:ext uri="{FF2B5EF4-FFF2-40B4-BE49-F238E27FC236}">
                <a16:creationId xmlns:a16="http://schemas.microsoft.com/office/drawing/2014/main" id="{34C095BA-AE65-4D98-A6A0-61BCCD148668}"/>
              </a:ext>
            </a:extLst>
          </p:cNvPr>
          <p:cNvSpPr>
            <a:spLocks noGrp="1"/>
          </p:cNvSpPr>
          <p:nvPr>
            <p:ph idx="1"/>
          </p:nvPr>
        </p:nvSpPr>
        <p:spPr>
          <a:xfrm>
            <a:off x="1673584" y="1566944"/>
            <a:ext cx="8758040" cy="4033756"/>
          </a:xfrm>
        </p:spPr>
        <p:txBody>
          <a:bodyPr>
            <a:normAutofit/>
          </a:bodyPr>
          <a:lstStyle/>
          <a:p>
            <a:pPr lvl="0" algn="just"/>
            <a:r>
              <a:rPr lang="en-US" dirty="0"/>
              <a:t>Doctor module</a:t>
            </a:r>
            <a:endParaRPr lang="en-IN" dirty="0"/>
          </a:p>
          <a:p>
            <a:pPr lvl="0" algn="just"/>
            <a:r>
              <a:rPr lang="en-US" dirty="0"/>
              <a:t>Patient module</a:t>
            </a:r>
            <a:endParaRPr lang="en-IN" dirty="0"/>
          </a:p>
          <a:p>
            <a:pPr lvl="0" algn="just"/>
            <a:r>
              <a:rPr lang="en-US" dirty="0"/>
              <a:t>Admin module</a:t>
            </a:r>
            <a:endParaRPr lang="en-IN" dirty="0"/>
          </a:p>
          <a:p>
            <a:pPr lvl="0" algn="just"/>
            <a:r>
              <a:rPr lang="en-US" dirty="0"/>
              <a:t>Disease Identification module</a:t>
            </a:r>
            <a:endParaRPr lang="en-IN" dirty="0"/>
          </a:p>
          <a:p>
            <a:pPr marL="0" indent="0" algn="just">
              <a:buNone/>
            </a:pPr>
            <a:endParaRPr lang="en-IN" dirty="0"/>
          </a:p>
        </p:txBody>
      </p:sp>
    </p:spTree>
    <p:extLst>
      <p:ext uri="{BB962C8B-B14F-4D97-AF65-F5344CB8AC3E}">
        <p14:creationId xmlns:p14="http://schemas.microsoft.com/office/powerpoint/2010/main" val="3912512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D494-62D2-49D3-9BC6-290ADC6E8970}"/>
              </a:ext>
            </a:extLst>
          </p:cNvPr>
          <p:cNvSpPr>
            <a:spLocks noGrp="1"/>
          </p:cNvSpPr>
          <p:nvPr>
            <p:ph type="title"/>
          </p:nvPr>
        </p:nvSpPr>
        <p:spPr>
          <a:xfrm>
            <a:off x="1674812" y="669334"/>
            <a:ext cx="9523412" cy="807125"/>
          </a:xfrm>
        </p:spPr>
        <p:txBody>
          <a:bodyPr>
            <a:normAutofit/>
          </a:bodyPr>
          <a:lstStyle/>
          <a:p>
            <a:r>
              <a:rPr lang="en-US" sz="3200" b="1" dirty="0">
                <a:latin typeface="Times New Roman" panose="02020603050405020304" pitchFamily="18" charset="0"/>
                <a:cs typeface="Times New Roman" panose="02020603050405020304" pitchFamily="18" charset="0"/>
              </a:rPr>
              <a:t>Doctor Module</a:t>
            </a:r>
          </a:p>
        </p:txBody>
      </p:sp>
      <p:sp>
        <p:nvSpPr>
          <p:cNvPr id="4" name="Slide Number Placeholder 3">
            <a:extLst>
              <a:ext uri="{FF2B5EF4-FFF2-40B4-BE49-F238E27FC236}">
                <a16:creationId xmlns:a16="http://schemas.microsoft.com/office/drawing/2014/main" id="{0EC68806-9971-4078-BA5F-6216F0E34B8E}"/>
              </a:ext>
            </a:extLst>
          </p:cNvPr>
          <p:cNvSpPr>
            <a:spLocks noGrp="1"/>
          </p:cNvSpPr>
          <p:nvPr>
            <p:ph type="sldNum" sz="quarter" idx="12"/>
          </p:nvPr>
        </p:nvSpPr>
        <p:spPr/>
        <p:txBody>
          <a:bodyPr/>
          <a:lstStyle/>
          <a:p>
            <a:r>
              <a:rPr lang="en-US" dirty="0"/>
              <a:t>7</a:t>
            </a:r>
          </a:p>
        </p:txBody>
      </p:sp>
      <p:sp>
        <p:nvSpPr>
          <p:cNvPr id="6" name="Content Placeholder 5">
            <a:extLst>
              <a:ext uri="{FF2B5EF4-FFF2-40B4-BE49-F238E27FC236}">
                <a16:creationId xmlns:a16="http://schemas.microsoft.com/office/drawing/2014/main" id="{655EC356-BADA-4060-BCF6-0DCC0AE91A0A}"/>
              </a:ext>
            </a:extLst>
          </p:cNvPr>
          <p:cNvSpPr>
            <a:spLocks noGrp="1"/>
          </p:cNvSpPr>
          <p:nvPr>
            <p:ph idx="1"/>
          </p:nvPr>
        </p:nvSpPr>
        <p:spPr>
          <a:xfrm>
            <a:off x="1674812" y="1540189"/>
            <a:ext cx="8915400" cy="3777622"/>
          </a:xfrm>
        </p:spPr>
        <p:txBody>
          <a:bodyPr/>
          <a:lstStyle/>
          <a:p>
            <a:pPr lvl="0" algn="just"/>
            <a:r>
              <a:rPr lang="en-US" dirty="0"/>
              <a:t>Doctor can manage his/her profile.</a:t>
            </a:r>
            <a:endParaRPr lang="en-IN" dirty="0"/>
          </a:p>
          <a:p>
            <a:pPr lvl="0" algn="just"/>
            <a:r>
              <a:rPr lang="en-US" dirty="0"/>
              <a:t>Doctor can view his/her schedule.</a:t>
            </a:r>
            <a:endParaRPr lang="en-IN" dirty="0"/>
          </a:p>
          <a:p>
            <a:pPr lvl="0" algn="just"/>
            <a:r>
              <a:rPr lang="en-US" dirty="0"/>
              <a:t>Doctor can manage his/her appointments.</a:t>
            </a:r>
            <a:endParaRPr lang="en-IN" dirty="0"/>
          </a:p>
          <a:p>
            <a:pPr lvl="0" algn="just"/>
            <a:r>
              <a:rPr lang="en-US" dirty="0"/>
              <a:t>Doctor can update Patient reports.</a:t>
            </a:r>
            <a:endParaRPr lang="en-IN" dirty="0"/>
          </a:p>
          <a:p>
            <a:pPr lvl="0" algn="just"/>
            <a:r>
              <a:rPr lang="en-US" dirty="0"/>
              <a:t>Doctor can reply to the Patient queries.</a:t>
            </a:r>
            <a:endParaRPr lang="en-IN" dirty="0"/>
          </a:p>
          <a:p>
            <a:pPr lvl="0" algn="just"/>
            <a:r>
              <a:rPr lang="en-US" dirty="0"/>
              <a:t>Doctor can use symptom checker tool.</a:t>
            </a:r>
          </a:p>
          <a:p>
            <a:pPr lvl="0" algn="just"/>
            <a:endParaRPr lang="en-IN" dirty="0"/>
          </a:p>
          <a:p>
            <a:pPr algn="just"/>
            <a:endParaRPr lang="en-IN" dirty="0"/>
          </a:p>
        </p:txBody>
      </p:sp>
    </p:spTree>
    <p:extLst>
      <p:ext uri="{BB962C8B-B14F-4D97-AF65-F5344CB8AC3E}">
        <p14:creationId xmlns:p14="http://schemas.microsoft.com/office/powerpoint/2010/main" val="3804268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1D494-62D2-49D3-9BC6-290ADC6E8970}"/>
              </a:ext>
            </a:extLst>
          </p:cNvPr>
          <p:cNvSpPr>
            <a:spLocks noGrp="1"/>
          </p:cNvSpPr>
          <p:nvPr>
            <p:ph type="title"/>
          </p:nvPr>
        </p:nvSpPr>
        <p:spPr>
          <a:xfrm>
            <a:off x="1674812" y="669334"/>
            <a:ext cx="9523412" cy="807125"/>
          </a:xfrm>
        </p:spPr>
        <p:txBody>
          <a:bodyPr>
            <a:normAutofit/>
          </a:bodyPr>
          <a:lstStyle/>
          <a:p>
            <a:r>
              <a:rPr lang="en-US" sz="3200" b="1" dirty="0">
                <a:latin typeface="Times New Roman" panose="02020603050405020304" pitchFamily="18" charset="0"/>
                <a:cs typeface="Times New Roman" panose="02020603050405020304" pitchFamily="18" charset="0"/>
              </a:rPr>
              <a:t>Patient Module</a:t>
            </a:r>
          </a:p>
        </p:txBody>
      </p:sp>
      <p:sp>
        <p:nvSpPr>
          <p:cNvPr id="4" name="Slide Number Placeholder 3">
            <a:extLst>
              <a:ext uri="{FF2B5EF4-FFF2-40B4-BE49-F238E27FC236}">
                <a16:creationId xmlns:a16="http://schemas.microsoft.com/office/drawing/2014/main" id="{0EC68806-9971-4078-BA5F-6216F0E34B8E}"/>
              </a:ext>
            </a:extLst>
          </p:cNvPr>
          <p:cNvSpPr>
            <a:spLocks noGrp="1"/>
          </p:cNvSpPr>
          <p:nvPr>
            <p:ph type="sldNum" sz="quarter" idx="12"/>
          </p:nvPr>
        </p:nvSpPr>
        <p:spPr/>
        <p:txBody>
          <a:bodyPr/>
          <a:lstStyle/>
          <a:p>
            <a:r>
              <a:rPr lang="en-US" dirty="0"/>
              <a:t>8</a:t>
            </a:r>
          </a:p>
        </p:txBody>
      </p:sp>
      <p:sp>
        <p:nvSpPr>
          <p:cNvPr id="6" name="Content Placeholder 5">
            <a:extLst>
              <a:ext uri="{FF2B5EF4-FFF2-40B4-BE49-F238E27FC236}">
                <a16:creationId xmlns:a16="http://schemas.microsoft.com/office/drawing/2014/main" id="{655EC356-BADA-4060-BCF6-0DCC0AE91A0A}"/>
              </a:ext>
            </a:extLst>
          </p:cNvPr>
          <p:cNvSpPr>
            <a:spLocks noGrp="1"/>
          </p:cNvSpPr>
          <p:nvPr>
            <p:ph idx="1"/>
          </p:nvPr>
        </p:nvSpPr>
        <p:spPr>
          <a:xfrm>
            <a:off x="1674812" y="1540188"/>
            <a:ext cx="8915400" cy="4060511"/>
          </a:xfrm>
        </p:spPr>
        <p:txBody>
          <a:bodyPr/>
          <a:lstStyle/>
          <a:p>
            <a:pPr lvl="0" algn="just"/>
            <a:r>
              <a:rPr lang="en-US" dirty="0"/>
              <a:t>Patient can manage his/her profile.</a:t>
            </a:r>
            <a:endParaRPr lang="en-IN" dirty="0"/>
          </a:p>
          <a:p>
            <a:pPr lvl="0" algn="just"/>
            <a:r>
              <a:rPr lang="en-US" dirty="0"/>
              <a:t>Patient can view the list of doctors.</a:t>
            </a:r>
            <a:endParaRPr lang="en-IN" dirty="0"/>
          </a:p>
          <a:p>
            <a:pPr lvl="0" algn="just"/>
            <a:r>
              <a:rPr lang="en-US" dirty="0"/>
              <a:t>Patient can book an appointment.</a:t>
            </a:r>
            <a:endParaRPr lang="en-IN" dirty="0"/>
          </a:p>
          <a:p>
            <a:pPr lvl="0" algn="just"/>
            <a:r>
              <a:rPr lang="en-US" dirty="0"/>
              <a:t>Patient can make bill payment.</a:t>
            </a:r>
            <a:endParaRPr lang="en-IN" dirty="0"/>
          </a:p>
          <a:p>
            <a:pPr lvl="0" algn="just"/>
            <a:r>
              <a:rPr lang="en-US" dirty="0"/>
              <a:t>Patient can view his medical reports.</a:t>
            </a:r>
            <a:endParaRPr lang="en-IN" dirty="0"/>
          </a:p>
          <a:p>
            <a:pPr lvl="0" algn="just"/>
            <a:r>
              <a:rPr lang="en-US" dirty="0"/>
              <a:t>Patient can send queries to the Doctor.</a:t>
            </a:r>
            <a:endParaRPr lang="en-IN" dirty="0"/>
          </a:p>
          <a:p>
            <a:pPr lvl="0" algn="just"/>
            <a:r>
              <a:rPr lang="en-US" dirty="0"/>
              <a:t>Patient can use symptom checker tool.</a:t>
            </a:r>
            <a:endParaRPr lang="en-IN" dirty="0"/>
          </a:p>
          <a:p>
            <a:pPr lvl="0" algn="just"/>
            <a:r>
              <a:rPr lang="en-US" dirty="0"/>
              <a:t>Patient can provide feedback about the quality of treatment.</a:t>
            </a:r>
            <a:endParaRPr lang="en-IN" dirty="0"/>
          </a:p>
          <a:p>
            <a:pPr lvl="0" algn="just"/>
            <a:endParaRPr lang="en-IN" dirty="0"/>
          </a:p>
          <a:p>
            <a:pPr algn="just"/>
            <a:endParaRPr lang="en-IN" dirty="0"/>
          </a:p>
        </p:txBody>
      </p:sp>
    </p:spTree>
    <p:extLst>
      <p:ext uri="{BB962C8B-B14F-4D97-AF65-F5344CB8AC3E}">
        <p14:creationId xmlns:p14="http://schemas.microsoft.com/office/powerpoint/2010/main" val="4076991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Admin Module</a:t>
            </a:r>
          </a:p>
        </p:txBody>
      </p:sp>
      <p:sp>
        <p:nvSpPr>
          <p:cNvPr id="4" name="Slide Number Placeholder 3">
            <a:extLst>
              <a:ext uri="{FF2B5EF4-FFF2-40B4-BE49-F238E27FC236}">
                <a16:creationId xmlns:a16="http://schemas.microsoft.com/office/drawing/2014/main" id="{E488E367-7021-41BF-B0C0-D7C92C45D66D}"/>
              </a:ext>
            </a:extLst>
          </p:cNvPr>
          <p:cNvSpPr>
            <a:spLocks noGrp="1"/>
          </p:cNvSpPr>
          <p:nvPr>
            <p:ph type="sldNum" sz="quarter" idx="12"/>
          </p:nvPr>
        </p:nvSpPr>
        <p:spPr/>
        <p:txBody>
          <a:bodyPr/>
          <a:lstStyle/>
          <a:p>
            <a:r>
              <a:rPr lang="en-US" dirty="0"/>
              <a:t>9</a:t>
            </a:r>
          </a:p>
        </p:txBody>
      </p:sp>
      <p:sp>
        <p:nvSpPr>
          <p:cNvPr id="5" name="Content Placeholder 5">
            <a:extLst>
              <a:ext uri="{FF2B5EF4-FFF2-40B4-BE49-F238E27FC236}">
                <a16:creationId xmlns:a16="http://schemas.microsoft.com/office/drawing/2014/main" id="{D80E373F-F637-492E-9A1B-7779BA25B6D6}"/>
              </a:ext>
            </a:extLst>
          </p:cNvPr>
          <p:cNvSpPr>
            <a:spLocks noGrp="1"/>
          </p:cNvSpPr>
          <p:nvPr>
            <p:ph idx="1"/>
          </p:nvPr>
        </p:nvSpPr>
        <p:spPr>
          <a:xfrm>
            <a:off x="1674812" y="1540188"/>
            <a:ext cx="8915400" cy="4060511"/>
          </a:xfrm>
        </p:spPr>
        <p:txBody>
          <a:bodyPr/>
          <a:lstStyle/>
          <a:p>
            <a:pPr algn="just"/>
            <a:r>
              <a:rPr lang="en-IN" dirty="0"/>
              <a:t>Admin is the data owner.</a:t>
            </a:r>
          </a:p>
          <a:p>
            <a:pPr algn="just"/>
            <a:r>
              <a:rPr lang="en-US" dirty="0"/>
              <a:t>Has complete access to all the modules in the system.</a:t>
            </a:r>
          </a:p>
          <a:p>
            <a:pPr lvl="0" algn="just"/>
            <a:r>
              <a:rPr lang="en-US" dirty="0"/>
              <a:t>Access to Doctor records.</a:t>
            </a:r>
            <a:endParaRPr lang="en-IN" dirty="0"/>
          </a:p>
          <a:p>
            <a:pPr lvl="0" algn="just"/>
            <a:r>
              <a:rPr lang="en-US" dirty="0"/>
              <a:t>Access to Patient records.</a:t>
            </a:r>
            <a:endParaRPr lang="en-IN" dirty="0"/>
          </a:p>
          <a:p>
            <a:pPr lvl="0" algn="just"/>
            <a:r>
              <a:rPr lang="en-US" dirty="0"/>
              <a:t>Access to billing records.</a:t>
            </a:r>
            <a:endParaRPr lang="en-IN" dirty="0"/>
          </a:p>
          <a:p>
            <a:pPr lvl="0" algn="just"/>
            <a:r>
              <a:rPr lang="en-US" dirty="0"/>
              <a:t>Add, delete and update departments.</a:t>
            </a:r>
            <a:endParaRPr lang="en-IN" dirty="0"/>
          </a:p>
          <a:p>
            <a:pPr lvl="0" algn="just"/>
            <a:r>
              <a:rPr lang="en-US" dirty="0"/>
              <a:t>Full control over Symptom checker tool.</a:t>
            </a:r>
            <a:endParaRPr lang="en-IN" dirty="0"/>
          </a:p>
          <a:p>
            <a:pPr algn="just"/>
            <a:r>
              <a:rPr lang="en-US" dirty="0"/>
              <a:t>Access to all the transactions happening in the system.</a:t>
            </a:r>
            <a:endParaRPr lang="en-IN" dirty="0"/>
          </a:p>
        </p:txBody>
      </p:sp>
    </p:spTree>
    <p:extLst>
      <p:ext uri="{BB962C8B-B14F-4D97-AF65-F5344CB8AC3E}">
        <p14:creationId xmlns:p14="http://schemas.microsoft.com/office/powerpoint/2010/main" val="3433163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Disease Identification Module</a:t>
            </a:r>
          </a:p>
        </p:txBody>
      </p:sp>
      <p:sp>
        <p:nvSpPr>
          <p:cNvPr id="4" name="Slide Number Placeholder 3">
            <a:extLst>
              <a:ext uri="{FF2B5EF4-FFF2-40B4-BE49-F238E27FC236}">
                <a16:creationId xmlns:a16="http://schemas.microsoft.com/office/drawing/2014/main" id="{E488E367-7021-41BF-B0C0-D7C92C45D66D}"/>
              </a:ext>
            </a:extLst>
          </p:cNvPr>
          <p:cNvSpPr>
            <a:spLocks noGrp="1"/>
          </p:cNvSpPr>
          <p:nvPr>
            <p:ph type="sldNum" sz="quarter" idx="12"/>
          </p:nvPr>
        </p:nvSpPr>
        <p:spPr/>
        <p:txBody>
          <a:bodyPr/>
          <a:lstStyle/>
          <a:p>
            <a:r>
              <a:rPr lang="en-US" dirty="0"/>
              <a:t>10</a:t>
            </a:r>
          </a:p>
        </p:txBody>
      </p:sp>
      <p:sp>
        <p:nvSpPr>
          <p:cNvPr id="5" name="Content Placeholder 5">
            <a:extLst>
              <a:ext uri="{FF2B5EF4-FFF2-40B4-BE49-F238E27FC236}">
                <a16:creationId xmlns:a16="http://schemas.microsoft.com/office/drawing/2014/main" id="{D80E373F-F637-492E-9A1B-7779BA25B6D6}"/>
              </a:ext>
            </a:extLst>
          </p:cNvPr>
          <p:cNvSpPr>
            <a:spLocks noGrp="1"/>
          </p:cNvSpPr>
          <p:nvPr>
            <p:ph idx="1"/>
          </p:nvPr>
        </p:nvSpPr>
        <p:spPr>
          <a:xfrm>
            <a:off x="1674812" y="1540188"/>
            <a:ext cx="10086658" cy="5066352"/>
          </a:xfrm>
        </p:spPr>
        <p:txBody>
          <a:bodyPr/>
          <a:lstStyle/>
          <a:p>
            <a:pPr algn="just"/>
            <a:r>
              <a:rPr lang="en-US" dirty="0"/>
              <a:t>Provides an efficient Symptom checker tool for self-diagnosis.</a:t>
            </a:r>
          </a:p>
          <a:p>
            <a:pPr algn="just"/>
            <a:r>
              <a:rPr lang="en-US" dirty="0"/>
              <a:t>Input: User symptoms</a:t>
            </a:r>
          </a:p>
          <a:p>
            <a:pPr algn="just"/>
            <a:r>
              <a:rPr lang="en-US" dirty="0"/>
              <a:t>Output: Likely Diagnoses</a:t>
            </a:r>
          </a:p>
          <a:p>
            <a:pPr algn="just"/>
            <a:r>
              <a:rPr lang="en-US"/>
              <a:t>Patient is </a:t>
            </a:r>
            <a:r>
              <a:rPr lang="en-US" dirty="0"/>
              <a:t>provided an option to interact with the doctor based on the diagnosis report.</a:t>
            </a:r>
            <a:endParaRPr lang="en-IN" dirty="0"/>
          </a:p>
          <a:p>
            <a:pPr algn="just"/>
            <a:endParaRPr lang="en-IN" dirty="0"/>
          </a:p>
        </p:txBody>
      </p:sp>
      <p:pic>
        <p:nvPicPr>
          <p:cNvPr id="6" name="Picture 5">
            <a:extLst>
              <a:ext uri="{FF2B5EF4-FFF2-40B4-BE49-F238E27FC236}">
                <a16:creationId xmlns:a16="http://schemas.microsoft.com/office/drawing/2014/main" id="{2B76977C-9C21-4F32-BAE7-10507FC1AE11}"/>
              </a:ext>
            </a:extLst>
          </p:cNvPr>
          <p:cNvPicPr/>
          <p:nvPr/>
        </p:nvPicPr>
        <p:blipFill>
          <a:blip r:embed="rId3"/>
          <a:stretch>
            <a:fillRect/>
          </a:stretch>
        </p:blipFill>
        <p:spPr>
          <a:xfrm>
            <a:off x="4575810" y="3233629"/>
            <a:ext cx="2727960" cy="3520757"/>
          </a:xfrm>
          <a:prstGeom prst="rect">
            <a:avLst/>
          </a:prstGeom>
        </p:spPr>
      </p:pic>
    </p:spTree>
    <p:extLst>
      <p:ext uri="{BB962C8B-B14F-4D97-AF65-F5344CB8AC3E}">
        <p14:creationId xmlns:p14="http://schemas.microsoft.com/office/powerpoint/2010/main" val="2849858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Use Case Diagram</a:t>
            </a:r>
          </a:p>
        </p:txBody>
      </p:sp>
      <p:sp>
        <p:nvSpPr>
          <p:cNvPr id="4" name="Slide Number Placeholder 3">
            <a:extLst>
              <a:ext uri="{FF2B5EF4-FFF2-40B4-BE49-F238E27FC236}">
                <a16:creationId xmlns:a16="http://schemas.microsoft.com/office/drawing/2014/main" id="{757AAF0B-BBC5-4567-A57A-4643DBF2843E}"/>
              </a:ext>
            </a:extLst>
          </p:cNvPr>
          <p:cNvSpPr>
            <a:spLocks noGrp="1"/>
          </p:cNvSpPr>
          <p:nvPr>
            <p:ph type="sldNum" sz="quarter" idx="12"/>
          </p:nvPr>
        </p:nvSpPr>
        <p:spPr/>
        <p:txBody>
          <a:bodyPr/>
          <a:lstStyle/>
          <a:p>
            <a:r>
              <a:rPr lang="en-US" dirty="0"/>
              <a:t>11</a:t>
            </a:r>
          </a:p>
        </p:txBody>
      </p:sp>
      <p:pic>
        <p:nvPicPr>
          <p:cNvPr id="6" name="Picture 5">
            <a:extLst>
              <a:ext uri="{FF2B5EF4-FFF2-40B4-BE49-F238E27FC236}">
                <a16:creationId xmlns:a16="http://schemas.microsoft.com/office/drawing/2014/main" id="{0D5D7A7E-12E5-4E57-8B88-9938C328E162}"/>
              </a:ext>
            </a:extLst>
          </p:cNvPr>
          <p:cNvPicPr/>
          <p:nvPr/>
        </p:nvPicPr>
        <p:blipFill rotWithShape="1">
          <a:blip r:embed="rId3">
            <a:extLst>
              <a:ext uri="{28A0092B-C50C-407E-A947-70E740481C1C}">
                <a14:useLocalDpi xmlns:a14="http://schemas.microsoft.com/office/drawing/2010/main" val="0"/>
              </a:ext>
            </a:extLst>
          </a:blip>
          <a:srcRect t="5229"/>
          <a:stretch/>
        </p:blipFill>
        <p:spPr bwMode="auto">
          <a:xfrm>
            <a:off x="3230563" y="1392341"/>
            <a:ext cx="4896168" cy="507513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18686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Activity Diagram</a:t>
            </a:r>
          </a:p>
        </p:txBody>
      </p:sp>
      <p:sp>
        <p:nvSpPr>
          <p:cNvPr id="6" name="Slide Number Placeholder 5">
            <a:extLst>
              <a:ext uri="{FF2B5EF4-FFF2-40B4-BE49-F238E27FC236}">
                <a16:creationId xmlns:a16="http://schemas.microsoft.com/office/drawing/2014/main" id="{9DDFE1D8-130A-4E37-8379-CF72F6B46534}"/>
              </a:ext>
            </a:extLst>
          </p:cNvPr>
          <p:cNvSpPr>
            <a:spLocks noGrp="1"/>
          </p:cNvSpPr>
          <p:nvPr>
            <p:ph type="sldNum" sz="quarter" idx="12"/>
          </p:nvPr>
        </p:nvSpPr>
        <p:spPr/>
        <p:txBody>
          <a:bodyPr/>
          <a:lstStyle/>
          <a:p>
            <a:r>
              <a:rPr lang="en-US" dirty="0"/>
              <a:t>12</a:t>
            </a:r>
          </a:p>
        </p:txBody>
      </p:sp>
      <p:pic>
        <p:nvPicPr>
          <p:cNvPr id="7" name="Picture 6">
            <a:extLst>
              <a:ext uri="{FF2B5EF4-FFF2-40B4-BE49-F238E27FC236}">
                <a16:creationId xmlns:a16="http://schemas.microsoft.com/office/drawing/2014/main" id="{1F7614C2-F9AA-4F40-A4EF-0A65B9F49A2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956152" y="1265872"/>
            <a:ext cx="6839585" cy="5172075"/>
          </a:xfrm>
          <a:prstGeom prst="rect">
            <a:avLst/>
          </a:prstGeom>
          <a:noFill/>
          <a:ln>
            <a:noFill/>
          </a:ln>
        </p:spPr>
      </p:pic>
    </p:spTree>
    <p:extLst>
      <p:ext uri="{BB962C8B-B14F-4D97-AF65-F5344CB8AC3E}">
        <p14:creationId xmlns:p14="http://schemas.microsoft.com/office/powerpoint/2010/main" val="1359550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Class Diagram</a:t>
            </a:r>
          </a:p>
        </p:txBody>
      </p:sp>
      <p:sp>
        <p:nvSpPr>
          <p:cNvPr id="3" name="Slide Number Placeholder 2">
            <a:extLst>
              <a:ext uri="{FF2B5EF4-FFF2-40B4-BE49-F238E27FC236}">
                <a16:creationId xmlns:a16="http://schemas.microsoft.com/office/drawing/2014/main" id="{4448D46A-9455-4F5C-ACFE-BC6E9ECC5838}"/>
              </a:ext>
            </a:extLst>
          </p:cNvPr>
          <p:cNvSpPr>
            <a:spLocks noGrp="1"/>
          </p:cNvSpPr>
          <p:nvPr>
            <p:ph type="sldNum" sz="quarter" idx="12"/>
          </p:nvPr>
        </p:nvSpPr>
        <p:spPr/>
        <p:txBody>
          <a:bodyPr/>
          <a:lstStyle/>
          <a:p>
            <a:r>
              <a:rPr lang="en-US" dirty="0"/>
              <a:t>13</a:t>
            </a:r>
          </a:p>
        </p:txBody>
      </p:sp>
      <p:pic>
        <p:nvPicPr>
          <p:cNvPr id="5" name="Picture 4">
            <a:extLst>
              <a:ext uri="{FF2B5EF4-FFF2-40B4-BE49-F238E27FC236}">
                <a16:creationId xmlns:a16="http://schemas.microsoft.com/office/drawing/2014/main" id="{EB6DAD45-B28E-405F-BB9D-0C3AF01D132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024505" y="1392342"/>
            <a:ext cx="5731510" cy="4985385"/>
          </a:xfrm>
          <a:prstGeom prst="rect">
            <a:avLst/>
          </a:prstGeom>
          <a:noFill/>
          <a:ln>
            <a:noFill/>
          </a:ln>
        </p:spPr>
      </p:pic>
    </p:spTree>
    <p:extLst>
      <p:ext uri="{BB962C8B-B14F-4D97-AF65-F5344CB8AC3E}">
        <p14:creationId xmlns:p14="http://schemas.microsoft.com/office/powerpoint/2010/main" val="394569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System Requirements</a:t>
            </a:r>
          </a:p>
        </p:txBody>
      </p:sp>
      <p:sp>
        <p:nvSpPr>
          <p:cNvPr id="3" name="Slide Number Placeholder 2">
            <a:extLst>
              <a:ext uri="{FF2B5EF4-FFF2-40B4-BE49-F238E27FC236}">
                <a16:creationId xmlns:a16="http://schemas.microsoft.com/office/drawing/2014/main" id="{64403075-38A6-48F1-9AE4-22A2FB616D84}"/>
              </a:ext>
            </a:extLst>
          </p:cNvPr>
          <p:cNvSpPr>
            <a:spLocks noGrp="1"/>
          </p:cNvSpPr>
          <p:nvPr>
            <p:ph type="sldNum" sz="quarter" idx="12"/>
          </p:nvPr>
        </p:nvSpPr>
        <p:spPr/>
        <p:txBody>
          <a:bodyPr/>
          <a:lstStyle/>
          <a:p>
            <a:r>
              <a:rPr lang="en-US" dirty="0"/>
              <a:t>14</a:t>
            </a:r>
          </a:p>
        </p:txBody>
      </p:sp>
      <p:sp>
        <p:nvSpPr>
          <p:cNvPr id="5" name="Content Placeholder 5">
            <a:extLst>
              <a:ext uri="{FF2B5EF4-FFF2-40B4-BE49-F238E27FC236}">
                <a16:creationId xmlns:a16="http://schemas.microsoft.com/office/drawing/2014/main" id="{DBE20892-2DC2-4500-B06B-B36D18A1D372}"/>
              </a:ext>
            </a:extLst>
          </p:cNvPr>
          <p:cNvSpPr>
            <a:spLocks noGrp="1"/>
          </p:cNvSpPr>
          <p:nvPr>
            <p:ph idx="1"/>
          </p:nvPr>
        </p:nvSpPr>
        <p:spPr>
          <a:xfrm>
            <a:off x="1674812" y="1540188"/>
            <a:ext cx="8915400" cy="4060511"/>
          </a:xfrm>
        </p:spPr>
        <p:txBody>
          <a:bodyPr/>
          <a:lstStyle/>
          <a:p>
            <a:pPr lvl="0"/>
            <a:r>
              <a:rPr lang="en-US" dirty="0"/>
              <a:t>Operating System			:		Windows 10 </a:t>
            </a:r>
            <a:endParaRPr lang="en-IN" dirty="0"/>
          </a:p>
          <a:p>
            <a:pPr lvl="0"/>
            <a:r>
              <a:rPr lang="en-US" dirty="0"/>
              <a:t>User Interface				:		HTML, CSS, Bootstrap</a:t>
            </a:r>
            <a:endParaRPr lang="en-IN" dirty="0"/>
          </a:p>
          <a:p>
            <a:pPr lvl="0"/>
            <a:r>
              <a:rPr lang="en-US" dirty="0"/>
              <a:t>Scripting						:		JavaScript</a:t>
            </a:r>
            <a:endParaRPr lang="en-IN" dirty="0"/>
          </a:p>
          <a:p>
            <a:pPr lvl="0"/>
            <a:r>
              <a:rPr lang="en-US" dirty="0"/>
              <a:t>Programming Language		:		Java </a:t>
            </a:r>
            <a:endParaRPr lang="en-IN" dirty="0"/>
          </a:p>
          <a:p>
            <a:pPr lvl="0"/>
            <a:r>
              <a:rPr lang="en-US" dirty="0"/>
              <a:t>Web Applications			:		Servlet, JSP </a:t>
            </a:r>
            <a:endParaRPr lang="en-IN" dirty="0"/>
          </a:p>
          <a:p>
            <a:pPr lvl="0"/>
            <a:r>
              <a:rPr lang="en-US" dirty="0"/>
              <a:t>IDE/Workbench				:		NetBeans IDE 8.2 , Eclipse IDE</a:t>
            </a:r>
            <a:endParaRPr lang="en-IN" dirty="0"/>
          </a:p>
          <a:p>
            <a:pPr lvl="0"/>
            <a:r>
              <a:rPr lang="en-US" dirty="0"/>
              <a:t>Database					:		MySQL</a:t>
            </a:r>
            <a:endParaRPr lang="en-IN" dirty="0"/>
          </a:p>
          <a:p>
            <a:pPr lvl="0"/>
            <a:r>
              <a:rPr lang="en-US" dirty="0"/>
              <a:t>Server						:		Apache Tomcat 9.0</a:t>
            </a:r>
          </a:p>
          <a:p>
            <a:pPr lvl="0"/>
            <a:r>
              <a:rPr lang="en-US" dirty="0"/>
              <a:t>Tested on					: 		Google Chrome </a:t>
            </a:r>
            <a:endParaRPr lang="en-IN" dirty="0"/>
          </a:p>
        </p:txBody>
      </p:sp>
    </p:spTree>
    <p:extLst>
      <p:ext uri="{BB962C8B-B14F-4D97-AF65-F5344CB8AC3E}">
        <p14:creationId xmlns:p14="http://schemas.microsoft.com/office/powerpoint/2010/main" val="791695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Tables</a:t>
            </a:r>
          </a:p>
        </p:txBody>
      </p:sp>
      <p:sp>
        <p:nvSpPr>
          <p:cNvPr id="3" name="Slide Number Placeholder 2">
            <a:extLst>
              <a:ext uri="{FF2B5EF4-FFF2-40B4-BE49-F238E27FC236}">
                <a16:creationId xmlns:a16="http://schemas.microsoft.com/office/drawing/2014/main" id="{62E0A876-8EB0-4693-8A3B-F6E34E518A84}"/>
              </a:ext>
            </a:extLst>
          </p:cNvPr>
          <p:cNvSpPr>
            <a:spLocks noGrp="1"/>
          </p:cNvSpPr>
          <p:nvPr>
            <p:ph type="sldNum" sz="quarter" idx="12"/>
          </p:nvPr>
        </p:nvSpPr>
        <p:spPr/>
        <p:txBody>
          <a:bodyPr/>
          <a:lstStyle/>
          <a:p>
            <a:r>
              <a:rPr lang="en-US" dirty="0"/>
              <a:t>15</a:t>
            </a:r>
          </a:p>
        </p:txBody>
      </p:sp>
      <p:pic>
        <p:nvPicPr>
          <p:cNvPr id="5" name="Picture 4">
            <a:extLst>
              <a:ext uri="{FF2B5EF4-FFF2-40B4-BE49-F238E27FC236}">
                <a16:creationId xmlns:a16="http://schemas.microsoft.com/office/drawing/2014/main" id="{92643E7E-F81E-439A-A051-979091F9CA0A}"/>
              </a:ext>
            </a:extLst>
          </p:cNvPr>
          <p:cNvPicPr>
            <a:picLocks noChangeAspect="1"/>
          </p:cNvPicPr>
          <p:nvPr/>
        </p:nvPicPr>
        <p:blipFill>
          <a:blip r:embed="rId3"/>
          <a:stretch>
            <a:fillRect/>
          </a:stretch>
        </p:blipFill>
        <p:spPr>
          <a:xfrm>
            <a:off x="4719637" y="1624012"/>
            <a:ext cx="3041333" cy="4295775"/>
          </a:xfrm>
          <a:prstGeom prst="rect">
            <a:avLst/>
          </a:prstGeom>
        </p:spPr>
      </p:pic>
    </p:spTree>
    <p:extLst>
      <p:ext uri="{BB962C8B-B14F-4D97-AF65-F5344CB8AC3E}">
        <p14:creationId xmlns:p14="http://schemas.microsoft.com/office/powerpoint/2010/main" val="397402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Functionality</a:t>
            </a:r>
          </a:p>
        </p:txBody>
      </p:sp>
      <p:sp>
        <p:nvSpPr>
          <p:cNvPr id="4" name="Slide Number Placeholder 3">
            <a:extLst>
              <a:ext uri="{FF2B5EF4-FFF2-40B4-BE49-F238E27FC236}">
                <a16:creationId xmlns:a16="http://schemas.microsoft.com/office/drawing/2014/main" id="{E488E367-7021-41BF-B0C0-D7C92C45D66D}"/>
              </a:ext>
            </a:extLst>
          </p:cNvPr>
          <p:cNvSpPr>
            <a:spLocks noGrp="1"/>
          </p:cNvSpPr>
          <p:nvPr>
            <p:ph type="sldNum" sz="quarter" idx="12"/>
          </p:nvPr>
        </p:nvSpPr>
        <p:spPr/>
        <p:txBody>
          <a:bodyPr/>
          <a:lstStyle/>
          <a:p>
            <a:r>
              <a:rPr lang="en-US" dirty="0"/>
              <a:t>16</a:t>
            </a:r>
          </a:p>
        </p:txBody>
      </p:sp>
      <p:sp>
        <p:nvSpPr>
          <p:cNvPr id="6" name="Content Placeholder 5">
            <a:extLst>
              <a:ext uri="{FF2B5EF4-FFF2-40B4-BE49-F238E27FC236}">
                <a16:creationId xmlns:a16="http://schemas.microsoft.com/office/drawing/2014/main" id="{392DD6ED-6E5B-4FB4-93D7-B7A3869F7CA2}"/>
              </a:ext>
            </a:extLst>
          </p:cNvPr>
          <p:cNvSpPr>
            <a:spLocks noGrp="1"/>
          </p:cNvSpPr>
          <p:nvPr>
            <p:ph idx="1"/>
          </p:nvPr>
        </p:nvSpPr>
        <p:spPr>
          <a:xfrm>
            <a:off x="1674812" y="1540188"/>
            <a:ext cx="8915400" cy="4060511"/>
          </a:xfrm>
        </p:spPr>
        <p:txBody>
          <a:bodyPr>
            <a:normAutofit/>
          </a:bodyPr>
          <a:lstStyle/>
          <a:p>
            <a:r>
              <a:rPr lang="en-IN" dirty="0"/>
              <a:t>Registration</a:t>
            </a:r>
          </a:p>
          <a:p>
            <a:r>
              <a:rPr lang="en-IN" dirty="0"/>
              <a:t>Login</a:t>
            </a:r>
          </a:p>
          <a:p>
            <a:r>
              <a:rPr lang="en-IN" dirty="0"/>
              <a:t>Appointment</a:t>
            </a:r>
          </a:p>
          <a:p>
            <a:r>
              <a:rPr lang="en-IN" dirty="0"/>
              <a:t>Billing</a:t>
            </a:r>
          </a:p>
          <a:p>
            <a:r>
              <a:rPr lang="en-IN" dirty="0"/>
              <a:t>Reports</a:t>
            </a:r>
          </a:p>
          <a:p>
            <a:r>
              <a:rPr lang="en-IN" dirty="0"/>
              <a:t>Symptom Checker</a:t>
            </a:r>
          </a:p>
          <a:p>
            <a:r>
              <a:rPr lang="en-IN" dirty="0"/>
              <a:t>Queries</a:t>
            </a:r>
          </a:p>
          <a:p>
            <a:r>
              <a:rPr lang="en-IN" dirty="0"/>
              <a:t>Feedback Form</a:t>
            </a:r>
          </a:p>
          <a:p>
            <a:r>
              <a:rPr lang="en-IN" dirty="0"/>
              <a:t>Contact Us</a:t>
            </a:r>
          </a:p>
        </p:txBody>
      </p:sp>
    </p:spTree>
    <p:extLst>
      <p:ext uri="{BB962C8B-B14F-4D97-AF65-F5344CB8AC3E}">
        <p14:creationId xmlns:p14="http://schemas.microsoft.com/office/powerpoint/2010/main" val="1759339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Future Enhancements</a:t>
            </a:r>
          </a:p>
        </p:txBody>
      </p:sp>
      <p:sp>
        <p:nvSpPr>
          <p:cNvPr id="4" name="Slide Number Placeholder 3">
            <a:extLst>
              <a:ext uri="{FF2B5EF4-FFF2-40B4-BE49-F238E27FC236}">
                <a16:creationId xmlns:a16="http://schemas.microsoft.com/office/drawing/2014/main" id="{E488E367-7021-41BF-B0C0-D7C92C45D66D}"/>
              </a:ext>
            </a:extLst>
          </p:cNvPr>
          <p:cNvSpPr>
            <a:spLocks noGrp="1"/>
          </p:cNvSpPr>
          <p:nvPr>
            <p:ph type="sldNum" sz="quarter" idx="12"/>
          </p:nvPr>
        </p:nvSpPr>
        <p:spPr/>
        <p:txBody>
          <a:bodyPr/>
          <a:lstStyle/>
          <a:p>
            <a:r>
              <a:rPr lang="en-US" dirty="0"/>
              <a:t>17</a:t>
            </a:r>
          </a:p>
        </p:txBody>
      </p:sp>
      <p:sp>
        <p:nvSpPr>
          <p:cNvPr id="6" name="Content Placeholder 2">
            <a:extLst>
              <a:ext uri="{FF2B5EF4-FFF2-40B4-BE49-F238E27FC236}">
                <a16:creationId xmlns:a16="http://schemas.microsoft.com/office/drawing/2014/main" id="{7DDAC5F5-00C9-4E8A-8958-BAF0006C806C}"/>
              </a:ext>
            </a:extLst>
          </p:cNvPr>
          <p:cNvSpPr>
            <a:spLocks noGrp="1"/>
          </p:cNvSpPr>
          <p:nvPr>
            <p:ph idx="1"/>
          </p:nvPr>
        </p:nvSpPr>
        <p:spPr>
          <a:xfrm>
            <a:off x="1673584" y="1786870"/>
            <a:ext cx="9104379" cy="2548064"/>
          </a:xfrm>
        </p:spPr>
        <p:txBody>
          <a:bodyPr>
            <a:normAutofit/>
          </a:bodyPr>
          <a:lstStyle/>
          <a:p>
            <a:pPr lvl="0" algn="just"/>
            <a:r>
              <a:rPr lang="en-US" dirty="0"/>
              <a:t>Integrating Blood bank system.</a:t>
            </a:r>
            <a:endParaRPr lang="en-IN" dirty="0"/>
          </a:p>
          <a:p>
            <a:pPr lvl="0" algn="just"/>
            <a:r>
              <a:rPr lang="en-US" dirty="0"/>
              <a:t>Integrating Diagnostic center system.</a:t>
            </a:r>
            <a:endParaRPr lang="en-IN" dirty="0"/>
          </a:p>
          <a:p>
            <a:pPr lvl="0" algn="just"/>
            <a:r>
              <a:rPr lang="en-US" dirty="0"/>
              <a:t>Adding payment gateway.</a:t>
            </a:r>
            <a:endParaRPr lang="en-IN" dirty="0"/>
          </a:p>
          <a:p>
            <a:pPr lvl="0" algn="just"/>
            <a:r>
              <a:rPr lang="en-US" dirty="0"/>
              <a:t>Adding additional modules to maintain Staff data.</a:t>
            </a:r>
            <a:endParaRPr lang="en-IN" dirty="0"/>
          </a:p>
          <a:p>
            <a:pPr lvl="0" algn="just"/>
            <a:r>
              <a:rPr lang="en-US" dirty="0"/>
              <a:t>Improving symptom checker tool with more reliable data.</a:t>
            </a:r>
            <a:endParaRPr lang="en-IN" dirty="0"/>
          </a:p>
        </p:txBody>
      </p:sp>
    </p:spTree>
    <p:extLst>
      <p:ext uri="{BB962C8B-B14F-4D97-AF65-F5344CB8AC3E}">
        <p14:creationId xmlns:p14="http://schemas.microsoft.com/office/powerpoint/2010/main" val="2915979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3584" y="666891"/>
            <a:ext cx="9404723" cy="725451"/>
          </a:xfrm>
        </p:spPr>
        <p:txBody>
          <a:bodyPr>
            <a:normAutofit/>
          </a:bodyPr>
          <a:lstStyle/>
          <a:p>
            <a:pPr algn="just"/>
            <a:r>
              <a:rPr lang="en-US" sz="3200" b="1" dirty="0">
                <a:latin typeface="Times New Roman" panose="02020603050405020304" pitchFamily="18" charset="0"/>
                <a:cs typeface="Times New Roman" panose="02020603050405020304" pitchFamily="18" charset="0"/>
              </a:rPr>
              <a:t>Conclusion</a:t>
            </a:r>
          </a:p>
        </p:txBody>
      </p:sp>
      <p:sp>
        <p:nvSpPr>
          <p:cNvPr id="4" name="Slide Number Placeholder 3">
            <a:extLst>
              <a:ext uri="{FF2B5EF4-FFF2-40B4-BE49-F238E27FC236}">
                <a16:creationId xmlns:a16="http://schemas.microsoft.com/office/drawing/2014/main" id="{E488E367-7021-41BF-B0C0-D7C92C45D66D}"/>
              </a:ext>
            </a:extLst>
          </p:cNvPr>
          <p:cNvSpPr>
            <a:spLocks noGrp="1"/>
          </p:cNvSpPr>
          <p:nvPr>
            <p:ph type="sldNum" sz="quarter" idx="12"/>
          </p:nvPr>
        </p:nvSpPr>
        <p:spPr/>
        <p:txBody>
          <a:bodyPr/>
          <a:lstStyle/>
          <a:p>
            <a:r>
              <a:rPr lang="en-US" dirty="0"/>
              <a:t>18</a:t>
            </a:r>
          </a:p>
        </p:txBody>
      </p:sp>
      <p:sp>
        <p:nvSpPr>
          <p:cNvPr id="6" name="Content Placeholder 2">
            <a:extLst>
              <a:ext uri="{FF2B5EF4-FFF2-40B4-BE49-F238E27FC236}">
                <a16:creationId xmlns:a16="http://schemas.microsoft.com/office/drawing/2014/main" id="{7DDAC5F5-00C9-4E8A-8958-BAF0006C806C}"/>
              </a:ext>
            </a:extLst>
          </p:cNvPr>
          <p:cNvSpPr>
            <a:spLocks noGrp="1"/>
          </p:cNvSpPr>
          <p:nvPr>
            <p:ph idx="1"/>
          </p:nvPr>
        </p:nvSpPr>
        <p:spPr>
          <a:xfrm>
            <a:off x="1673584" y="1786870"/>
            <a:ext cx="9104379" cy="2548064"/>
          </a:xfrm>
        </p:spPr>
        <p:txBody>
          <a:bodyPr>
            <a:normAutofit/>
          </a:bodyPr>
          <a:lstStyle/>
          <a:p>
            <a:pPr lvl="0" algn="just"/>
            <a:r>
              <a:rPr lang="en-US" dirty="0"/>
              <a:t>The proposed system is successfully designed and tested. </a:t>
            </a:r>
          </a:p>
          <a:p>
            <a:pPr lvl="0" algn="just"/>
            <a:r>
              <a:rPr lang="en-US" dirty="0"/>
              <a:t>Successfully integrates Hospital Management system and symptom checker tool.</a:t>
            </a:r>
          </a:p>
          <a:p>
            <a:pPr lvl="0" algn="just"/>
            <a:r>
              <a:rPr lang="en-US" dirty="0"/>
              <a:t>Symptom checker tool developed displays the accurate results depending on the dataset.</a:t>
            </a:r>
          </a:p>
          <a:p>
            <a:pPr lvl="0" algn="just"/>
            <a:r>
              <a:rPr lang="en-US" dirty="0"/>
              <a:t>Enhancements are to be made before bringing this product into market as a complete business suite.</a:t>
            </a:r>
            <a:endParaRPr lang="en-IN" dirty="0"/>
          </a:p>
        </p:txBody>
      </p:sp>
    </p:spTree>
    <p:extLst>
      <p:ext uri="{BB962C8B-B14F-4D97-AF65-F5344CB8AC3E}">
        <p14:creationId xmlns:p14="http://schemas.microsoft.com/office/powerpoint/2010/main" val="846134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12516" y="2199778"/>
            <a:ext cx="8825659" cy="2197411"/>
          </a:xfrm>
        </p:spPr>
        <p:txBody>
          <a:bodyPr>
            <a:normAutofit/>
          </a:bodyPr>
          <a:lstStyle/>
          <a:p>
            <a:pPr algn="ctr"/>
            <a:r>
              <a:rPr lang="en-IN" sz="6600" b="1" dirty="0">
                <a:solidFill>
                  <a:schemeClr val="tx2"/>
                </a:solidFill>
                <a:latin typeface="Times New Roman" panose="02020603050405020304" pitchFamily="18" charset="0"/>
                <a:cs typeface="Times New Roman" panose="02020603050405020304" pitchFamily="18" charset="0"/>
              </a:rPr>
              <a:t>THANK YOU</a:t>
            </a:r>
          </a:p>
        </p:txBody>
      </p:sp>
      <p:sp>
        <p:nvSpPr>
          <p:cNvPr id="2" name="Slide Number Placeholder 1">
            <a:extLst>
              <a:ext uri="{FF2B5EF4-FFF2-40B4-BE49-F238E27FC236}">
                <a16:creationId xmlns:a16="http://schemas.microsoft.com/office/drawing/2014/main" id="{833FDABB-F6A8-4E3B-9C49-063F79C42B8A}"/>
              </a:ext>
            </a:extLst>
          </p:cNvPr>
          <p:cNvSpPr>
            <a:spLocks noGrp="1"/>
          </p:cNvSpPr>
          <p:nvPr>
            <p:ph type="sldNum" sz="quarter" idx="12"/>
          </p:nvPr>
        </p:nvSpPr>
        <p:spPr/>
        <p:txBody>
          <a:bodyPr/>
          <a:lstStyle/>
          <a:p>
            <a:r>
              <a:rPr lang="en-US" dirty="0"/>
              <a:t>19</a:t>
            </a:r>
          </a:p>
        </p:txBody>
      </p:sp>
    </p:spTree>
    <p:extLst>
      <p:ext uri="{BB962C8B-B14F-4D97-AF65-F5344CB8AC3E}">
        <p14:creationId xmlns:p14="http://schemas.microsoft.com/office/powerpoint/2010/main" val="1486027347"/>
      </p:ext>
    </p:extLst>
  </p:cSld>
  <p:clrMapOvr>
    <a:masterClrMapping/>
  </p:clrMapOvr>
</p:sld>
</file>

<file path=ppt/theme/theme1.xml><?xml version="1.0" encoding="utf-8"?>
<a:theme xmlns:a="http://schemas.openxmlformats.org/drawingml/2006/main" name="USM">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USM" id="{1F9C4782-7008-48B6-B635-F9C68C21AE47}" vid="{34A6AAD8-D3FE-4DA8-80CB-2269BB367F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USM</Template>
  <TotalTime>17203</TotalTime>
  <Words>878</Words>
  <Application>Microsoft Office PowerPoint</Application>
  <PresentationFormat>Widescreen</PresentationFormat>
  <Paragraphs>163</Paragraphs>
  <Slides>21</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ＭＳ Ｐゴシック</vt:lpstr>
      <vt:lpstr>Arial</vt:lpstr>
      <vt:lpstr>Calibri</vt:lpstr>
      <vt:lpstr>Century Gothic</vt:lpstr>
      <vt:lpstr>Times New Roman</vt:lpstr>
      <vt:lpstr>Wingdings</vt:lpstr>
      <vt:lpstr>Wingdings 3</vt:lpstr>
      <vt:lpstr>USM</vt:lpstr>
      <vt:lpstr> Smart Health Care System by Dishant Kumar Kushwaha Vantika Agarwal Ashwani Kumar Anjali Yadav Shivani  Bharti  </vt:lpstr>
      <vt:lpstr>OUTLINE</vt:lpstr>
      <vt:lpstr>Introduction</vt:lpstr>
      <vt:lpstr>HMS</vt:lpstr>
      <vt:lpstr>Symptom Checker</vt:lpstr>
      <vt:lpstr>Existing System</vt:lpstr>
      <vt:lpstr>Proposed System</vt:lpstr>
      <vt:lpstr>Modules</vt:lpstr>
      <vt:lpstr>Doctor Module</vt:lpstr>
      <vt:lpstr>Patient Module</vt:lpstr>
      <vt:lpstr>Admin Module</vt:lpstr>
      <vt:lpstr>Disease Identification Module</vt:lpstr>
      <vt:lpstr>Use Case Diagram</vt:lpstr>
      <vt:lpstr>Activity Diagram</vt:lpstr>
      <vt:lpstr>Class Diagram</vt:lpstr>
      <vt:lpstr>System Requirements</vt:lpstr>
      <vt:lpstr>Tables</vt:lpstr>
      <vt:lpstr>Functionality</vt:lpstr>
      <vt:lpstr>Future Enhancements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CSC699_Project Report</dc:title>
  <dc:creator>Murali Krishna Kanneganti</dc:creator>
  <cp:lastModifiedBy>Dishant Kushwaha</cp:lastModifiedBy>
  <cp:revision>201</cp:revision>
  <dcterms:created xsi:type="dcterms:W3CDTF">2016-05-06T15:57:59Z</dcterms:created>
  <dcterms:modified xsi:type="dcterms:W3CDTF">2019-09-05T04:59:48Z</dcterms:modified>
</cp:coreProperties>
</file>